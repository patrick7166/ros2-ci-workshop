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cold. Do NOT define CI yet — tell the Friday story first (next slide). Repo URL should already be in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lab story, not a definition. Keep it under 90 seconds, then go straight to the hands-up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Wait for actual hands. Silence here is fine — it makes the point. :04 by the end of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the arrow chain on the whiteboard as you say it. The two bottom cards are the surprising bits — say both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each word once, plainly. Do not add jargon. These four map 1:1 onto the YAML on the next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seconds, no more. Ask the room WHY a robot is different before you give the answer — someone will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file ON GITHUB, not in your editor. Read it top to bottom out loud, pointing at each keyword.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apologise for the wait. Fill it with the "who pays for this" material on the next slide if you need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questions always come. Answer in one line each and move on — do not let self-hosted runners eat five minutes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it as: exactly the same thing you type on your own machine. Nothing new except where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ros-tooling/setup-ros and action-ros-ci exist and collapse this to one line — but do NOT demo them. Writing it by hand is the point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Gotcha 1 has two halves: new shell every step, AND the container may hand you sh instead of bash. The tell is "source: not found". Gotcha 2 is the one that produces a permanently-green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a full minute here. Open both files side by side. This is a DESIGN lesson that happens to also be a CI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DIFF BEFORE PUSHING. Ask the room. Let the silence sit. Someone usually gets it — then land the reverse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Click Details, scroll to the assertion, read it aloud. Then ./demo/fix-it.sh, push, refresh, green, merge. Six minutes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 for this whole section. If you are behind, cut this slide entirely and go straight to branch protection.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with real organisational consequences. Say plainly: a permanently red main is worse than no CI, because people stop reading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Do not demo any of this. It is a map of where they go next, not today's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Put the repo URL in chat again here. Offer to pair — say it like you mean it, and put a time on the calendar.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for the whole 15 minutes of Q&amp;A. Repo URL stays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for robots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8778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B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pPr indent="0" marL="0">
              <a:buNone/>
            </a:pPr>
            <a:r>
              <a:rPr lang="en-US" sz="2600" dirty="0">
                <a:solidFill>
                  <a:srgbClr val="92AE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</a:t>
            </a:r>
            <a:pPr indent="0" marL="0">
              <a:buNone/>
            </a:pPr>
            <a:r>
              <a:rPr lang="en-US" sz="2600" b="1" dirty="0">
                <a:solidFill>
                  <a:srgbClr val="3B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 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3520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builds and tests the code on a clean machine,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i="1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"works on my laptop" stops being a thing anybody has to say.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892040"/>
            <a:ext cx="5669280" cy="1051560"/>
          </a:xfrm>
          <a:prstGeom prst="roundRect">
            <a:avLst>
              <a:gd name="adj" fmla="val 6957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5129784"/>
            <a:ext cx="51572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4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✓ build   ✓ test   ✓ lint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60920" y="5138928"/>
            <a:ext cx="2377440" cy="384048"/>
          </a:xfrm>
          <a:prstGeom prst="roundRect">
            <a:avLst>
              <a:gd name="adj" fmla="val 119048"/>
            </a:avLst>
          </a:prstGeom>
          <a:solidFill>
            <a:srgbClr val="1FA971"/>
          </a:solidFill>
          <a:ln/>
        </p:spPr>
      </p:sp>
      <p:sp>
        <p:nvSpPr>
          <p:cNvPr id="8" name="Text 6"/>
          <p:cNvSpPr/>
          <p:nvPr/>
        </p:nvSpPr>
        <p:spPr>
          <a:xfrm>
            <a:off x="7360920" y="51389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CHECKS PASSED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minutes  ·  new lab members  ·  bring a laptop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ARE HERE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did anything wrong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11535" cy="841248"/>
          </a:xfrm>
          <a:prstGeom prst="roundRect">
            <a:avLst>
              <a:gd name="adj" fmla="val 5435"/>
            </a:avLst>
          </a:prstGeom>
          <a:solidFill>
            <a:srgbClr val="EDF2F6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1655064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7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17:40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560320" y="1655064"/>
            <a:ext cx="8625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pushes a small change to the velocity limiter.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569464"/>
            <a:ext cx="10911535" cy="841248"/>
          </a:xfrm>
          <a:prstGeom prst="roundRect">
            <a:avLst>
              <a:gd name="adj" fmla="val 5435"/>
            </a:avLst>
          </a:prstGeom>
          <a:solidFill>
            <a:srgbClr val="EDF2F6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624328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77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FRI 17:41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560320" y="2624328"/>
            <a:ext cx="8625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builds fine on their machine — the stale install/ folder still has the old headers.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538728"/>
            <a:ext cx="10911535" cy="841248"/>
          </a:xfrm>
          <a:prstGeom prst="roundRect">
            <a:avLst>
              <a:gd name="adj" fmla="val 5435"/>
            </a:avLst>
          </a:prstGeom>
          <a:solidFill>
            <a:srgbClr val="FBECED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593592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 09:15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60320" y="3593592"/>
            <a:ext cx="8625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else pulls main. The robot will not build.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507992"/>
            <a:ext cx="10911535" cy="841248"/>
          </a:xfrm>
          <a:prstGeom prst="roundRect">
            <a:avLst>
              <a:gd name="adj" fmla="val 5435"/>
            </a:avLst>
          </a:prstGeom>
          <a:solidFill>
            <a:srgbClr val="FBECED"/>
          </a:solidFill>
          <a:ln/>
        </p:spPr>
      </p:sp>
      <p:sp>
        <p:nvSpPr>
          <p:cNvPr id="14" name="Text 12"/>
          <p:cNvSpPr/>
          <p:nvPr/>
        </p:nvSpPr>
        <p:spPr>
          <a:xfrm>
            <a:off x="932688" y="4562856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3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 12:30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560320" y="4562856"/>
            <a:ext cx="8625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people have lost a morning.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574243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not a discipline problem. It is a missing-feedback problem.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000" cy="2743200"/>
          </a:xfrm>
          <a:prstGeom prst="roundRect">
            <a:avLst>
              <a:gd name="adj" fmla="val 1667"/>
            </a:avLst>
          </a:prstGeom>
          <a:solidFill>
            <a:srgbClr val="EDF2F6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57400"/>
            <a:ext cx="457200" cy="457200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7432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has pulled main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found it broken?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370832" y="1737360"/>
            <a:ext cx="3429000" cy="2743200"/>
          </a:xfrm>
          <a:prstGeom prst="roundRect">
            <a:avLst>
              <a:gd name="adj" fmla="val 1667"/>
            </a:avLst>
          </a:prstGeom>
          <a:solidFill>
            <a:srgbClr val="EDF2F6"/>
          </a:solidFill>
          <a:ln/>
        </p:spPr>
      </p:sp>
      <p:sp>
        <p:nvSpPr>
          <p:cNvPr id="9" name="Shape 7"/>
          <p:cNvSpPr/>
          <p:nvPr/>
        </p:nvSpPr>
        <p:spPr>
          <a:xfrm>
            <a:off x="4690872" y="2057400"/>
            <a:ext cx="457200" cy="457200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10" name="Text 8"/>
          <p:cNvSpPr/>
          <p:nvPr/>
        </p:nvSpPr>
        <p:spPr>
          <a:xfrm>
            <a:off x="469087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90872" y="27432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has said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it works on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machine"?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8101584" y="1737360"/>
            <a:ext cx="3429000" cy="2743200"/>
          </a:xfrm>
          <a:prstGeom prst="roundRect">
            <a:avLst>
              <a:gd name="adj" fmla="val 1667"/>
            </a:avLst>
          </a:prstGeom>
          <a:solidFill>
            <a:srgbClr val="EDF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8421624" y="2057400"/>
            <a:ext cx="457200" cy="457200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14" name="Text 12"/>
          <p:cNvSpPr/>
          <p:nvPr/>
        </p:nvSpPr>
        <p:spPr>
          <a:xfrm>
            <a:off x="842162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21624" y="274320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has pushed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something that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compile?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your own hand up first, on all three.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10911535" cy="960120"/>
          </a:xfrm>
          <a:prstGeom prst="roundRect">
            <a:avLst>
              <a:gd name="adj" fmla="val 4762"/>
            </a:avLst>
          </a:prstGeom>
          <a:solidFill>
            <a:srgbClr val="0E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52578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is just automatic feedback. That is the entire idea.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CI ACTUALLY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push. A stranger's computer checks your work.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2926080" cy="1783080"/>
          </a:xfrm>
          <a:prstGeom prst="roundRect">
            <a:avLst>
              <a:gd name="adj" fmla="val 2564"/>
            </a:avLst>
          </a:prstGeom>
          <a:solidFill>
            <a:srgbClr val="EDF2F6"/>
          </a:solidFill>
          <a:ln/>
        </p:spPr>
      </p:sp>
      <p:sp>
        <p:nvSpPr>
          <p:cNvPr id="5" name="Text 3"/>
          <p:cNvSpPr/>
          <p:nvPr/>
        </p:nvSpPr>
        <p:spPr>
          <a:xfrm>
            <a:off x="896112" y="20848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push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254203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commit lands on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584448" y="1874520"/>
            <a:ext cx="3291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B4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886200" y="1874520"/>
            <a:ext cx="2926080" cy="1783080"/>
          </a:xfrm>
          <a:prstGeom prst="roundRect">
            <a:avLst>
              <a:gd name="adj" fmla="val 2564"/>
            </a:avLst>
          </a:prstGeom>
          <a:solidFill>
            <a:srgbClr val="EDF2F6"/>
          </a:solidFill>
          <a:ln/>
        </p:spPr>
      </p:sp>
      <p:sp>
        <p:nvSpPr>
          <p:cNvPr id="9" name="Text 7"/>
          <p:cNvSpPr/>
          <p:nvPr/>
        </p:nvSpPr>
        <p:spPr>
          <a:xfrm>
            <a:off x="4142232" y="20848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rents a VM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142232" y="254203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brand-new machine,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30568" y="1874520"/>
            <a:ext cx="3291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B4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132320" y="1874520"/>
            <a:ext cx="2926080" cy="1783080"/>
          </a:xfrm>
          <a:prstGeom prst="roundRect">
            <a:avLst>
              <a:gd name="adj" fmla="val 2564"/>
            </a:avLst>
          </a:prstGeom>
          <a:solidFill>
            <a:srgbClr val="EDF2F6"/>
          </a:solidFill>
          <a:ln/>
        </p:spPr>
      </p:sp>
      <p:sp>
        <p:nvSpPr>
          <p:cNvPr id="13" name="Text 11"/>
          <p:cNvSpPr/>
          <p:nvPr/>
        </p:nvSpPr>
        <p:spPr>
          <a:xfrm>
            <a:off x="7388352" y="208483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runs your commands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88352" y="2542032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test, lint —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ones you type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85832" y="1874520"/>
            <a:ext cx="3291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B4C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69880" y="2240280"/>
            <a:ext cx="1051560" cy="457200"/>
          </a:xfrm>
          <a:prstGeom prst="roundRect">
            <a:avLst>
              <a:gd name="adj" fmla="val 100000"/>
            </a:avLst>
          </a:prstGeom>
          <a:solidFill>
            <a:srgbClr val="1FA971"/>
          </a:solidFill>
          <a:ln/>
        </p:spPr>
      </p:sp>
      <p:sp>
        <p:nvSpPr>
          <p:cNvPr id="17" name="Text 15"/>
          <p:cNvSpPr/>
          <p:nvPr/>
        </p:nvSpPr>
        <p:spPr>
          <a:xfrm>
            <a:off x="10469880" y="22402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green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469880" y="2834640"/>
            <a:ext cx="1051560" cy="457200"/>
          </a:xfrm>
          <a:prstGeom prst="roundRect">
            <a:avLst>
              <a:gd name="adj" fmla="val 100000"/>
            </a:avLst>
          </a:prstGeom>
          <a:solidFill>
            <a:srgbClr val="D9434B"/>
          </a:solidFill>
          <a:ln/>
        </p:spPr>
      </p:sp>
      <p:sp>
        <p:nvSpPr>
          <p:cNvPr id="19" name="Text 17"/>
          <p:cNvSpPr/>
          <p:nvPr/>
        </p:nvSpPr>
        <p:spPr>
          <a:xfrm>
            <a:off x="10469880" y="28346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red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then the machine is destroyed.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434840"/>
            <a:ext cx="5349240" cy="1783080"/>
          </a:xfrm>
          <a:prstGeom prst="roundRect">
            <a:avLst>
              <a:gd name="adj" fmla="val 2564"/>
            </a:avLst>
          </a:prstGeom>
          <a:solidFill>
            <a:srgbClr val="ED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932688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 is thrown away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32688" y="5029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you install persists. That is the feature —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why CI catches "I forgot to commit that file".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17920" y="4434840"/>
            <a:ext cx="5349240" cy="1783080"/>
          </a:xfrm>
          <a:prstGeom prst="roundRect">
            <a:avLst>
              <a:gd name="adj" fmla="val 2564"/>
            </a:avLst>
          </a:prstGeom>
          <a:solidFill>
            <a:srgbClr val="EDF2F6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4617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code 0 is the whole contract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510528" y="50292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does not understand your tests. It runs a command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looks at the exit code. 0 is green. Anything else is red.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words. That is the whole vocabulary.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932688"/>
          </a:xfrm>
          <a:prstGeom prst="roundRect">
            <a:avLst>
              <a:gd name="adj" fmla="val 4902"/>
            </a:avLst>
          </a:prstGeom>
          <a:solidFill>
            <a:srgbClr val="EDF2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47672"/>
            <a:ext cx="420624" cy="420624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1783080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337560" y="1783080"/>
            <a:ext cx="7848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happened in the repo — usually a push or a pull request.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761488"/>
            <a:ext cx="10911535" cy="932688"/>
          </a:xfrm>
          <a:prstGeom prst="roundRect">
            <a:avLst>
              <a:gd name="adj" fmla="val 4902"/>
            </a:avLst>
          </a:prstGeom>
          <a:solidFill>
            <a:srgbClr val="EDF2F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017520"/>
            <a:ext cx="420624" cy="420624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17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2852928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337560" y="2852928"/>
            <a:ext cx="7848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YAML file in .github/workflows/ that says "when X happens, do Y".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831336"/>
            <a:ext cx="10911535" cy="932688"/>
          </a:xfrm>
          <a:prstGeom prst="roundRect">
            <a:avLst>
              <a:gd name="adj" fmla="val 4902"/>
            </a:avLst>
          </a:prstGeom>
          <a:solidFill>
            <a:srgbClr val="EDF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087368"/>
            <a:ext cx="420624" cy="420624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87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3922776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337560" y="3922776"/>
            <a:ext cx="7848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chunk of work that gets its own brand-new computer. Jobs run in parallel.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4901184"/>
            <a:ext cx="10911535" cy="932688"/>
          </a:xfrm>
          <a:prstGeom prst="roundRect">
            <a:avLst>
              <a:gd name="adj" fmla="val 4902"/>
            </a:avLst>
          </a:prstGeom>
          <a:solidFill>
            <a:srgbClr val="EDF2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5157216"/>
            <a:ext cx="420624" cy="420624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992624"/>
            <a:ext cx="1737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3337560" y="4992624"/>
            <a:ext cx="7848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or one reusable action, inside a job.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you will ever read about GitHub Actions is a variation on these four.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LETTER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about the "CD" part?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2286000"/>
          </a:xfrm>
          <a:prstGeom prst="roundRect">
            <a:avLst>
              <a:gd name="adj" fmla="val 2000"/>
            </a:avLst>
          </a:prstGeom>
          <a:solidFill>
            <a:srgbClr val="EDF2F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9659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 ·  Continuous Integration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4231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it build? Did the tests pass?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every push and every pull request.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340156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90% of today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49240" cy="2286000"/>
          </a:xfrm>
          <a:prstGeom prst="roundRect">
            <a:avLst>
              <a:gd name="adj" fmla="val 2000"/>
            </a:avLst>
          </a:prstGeom>
          <a:solidFill>
            <a:srgbClr val="EDF2F6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96596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  ·  Continuous Delivery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4231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...and now ship it somewhere.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Docker image, cut a release, deploy.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340156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5 minutes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43400"/>
            <a:ext cx="10911535" cy="1691640"/>
          </a:xfrm>
          <a:prstGeom prst="roundRect">
            <a:avLst>
              <a:gd name="adj" fmla="val 2703"/>
            </a:avLst>
          </a:prstGeom>
          <a:solidFill>
            <a:srgbClr val="0E2233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" y="4956048"/>
            <a:ext cx="457200" cy="457200"/>
          </a:xfrm>
          <a:prstGeom prst="ellipse">
            <a:avLst/>
          </a:prstGeom>
          <a:solidFill>
            <a:srgbClr val="D98B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" y="4956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737360" y="457200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robot is not a web server.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5029200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auto-deploy a website at 3am and roll it back at 3:01. A bad rollback on a robot moves.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human in the loop between "tests passed" and "it is on the hardware".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01-HELLO-CI.YML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four words, in a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6720840" cy="3252978"/>
          </a:xfrm>
          <a:prstGeom prst="roundRect">
            <a:avLst>
              <a:gd name="adj" fmla="val 2249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837944"/>
            <a:ext cx="6208776" cy="2777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push: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say-hello: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runs-on: ubuntu-latest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steps: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uses: actions/checkout@v7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run: echo "Hello from $(hostname)"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0" y="17373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98280" y="17373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EVENT that wakes it 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0" y="23042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098280" y="230428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by you; own fresh VM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0" y="28712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runs-on: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98280" y="287121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machine GitHub rents you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0" y="34381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uses: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098280" y="343814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else's reusable 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0" y="40050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98280" y="400507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shell command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911535" cy="1234440"/>
          </a:xfrm>
          <a:prstGeom prst="roundRect">
            <a:avLst>
              <a:gd name="adj" fmla="val 3704"/>
            </a:avLst>
          </a:prstGeom>
          <a:solidFill>
            <a:srgbClr val="17364C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102352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just a file in the repo.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548640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dashboard, no console, no separate CI server to log into. You review it, diff it and revert it like any other code.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DO THIS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anything. Watch it run.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6720840" cy="2018538"/>
          </a:xfrm>
          <a:prstGeom prst="roundRect">
            <a:avLst>
              <a:gd name="adj" fmla="val 3624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883664"/>
            <a:ext cx="6208776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echo "# workshop $(date +%H:%M)" &gt;&gt; README.md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commit -am "trigger CI"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push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92AE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now open the Actions tab and refresh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it runs, say this: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0" y="214884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"Right now GitHub is booting a virtual machine somewhere for us. That is the ten seconds."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023360"/>
            <a:ext cx="10911535" cy="2148840"/>
          </a:xfrm>
          <a:prstGeom prst="roundRect">
            <a:avLst>
              <a:gd name="adj" fmla="val 2128"/>
            </a:avLst>
          </a:prstGeom>
          <a:solidFill>
            <a:srgbClr val="17364C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18795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run page, point at: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4617720"/>
            <a:ext cx="10058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names — they match the YAML you just read, line for 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"Set up job" at the top — GitHub's own bookkeeping, ignore it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hostname output — that computer did not exist twenty seconds ago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run time in the corner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ACTIONS TAB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outcomes. That is the whole interface.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2148840"/>
          </a:xfrm>
          <a:prstGeom prst="roundRect">
            <a:avLst>
              <a:gd name="adj" fmla="val 2128"/>
            </a:avLst>
          </a:prstGeom>
          <a:solidFill>
            <a:srgbClr val="E9F6EF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1965960"/>
            <a:ext cx="1691640" cy="384048"/>
          </a:xfrm>
          <a:prstGeom prst="roundRect">
            <a:avLst>
              <a:gd name="adj" fmla="val 119048"/>
            </a:avLst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SUCCESS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834640" y="19659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A9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25603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exited 0. Merge with a clear head.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49240" cy="2148840"/>
          </a:xfrm>
          <a:prstGeom prst="roundRect">
            <a:avLst>
              <a:gd name="adj" fmla="val 2128"/>
            </a:avLst>
          </a:prstGeom>
          <a:solidFill>
            <a:srgbClr val="FBECED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1965960"/>
            <a:ext cx="1691640" cy="384048"/>
          </a:xfrm>
          <a:prstGeom prst="roundRect">
            <a:avLst>
              <a:gd name="adj" fmla="val 119048"/>
            </a:avLst>
          </a:prstGeom>
          <a:solidFill>
            <a:srgbClr val="D9434B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659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FAILURE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12480" y="19659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4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537960" y="256032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exited non-zero. Click through to the step, read the last 20 lines.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3429000" cy="2057400"/>
          </a:xfrm>
          <a:prstGeom prst="roundRect">
            <a:avLst>
              <a:gd name="adj" fmla="val 2222"/>
            </a:avLst>
          </a:prstGeom>
          <a:solidFill>
            <a:srgbClr val="EDF2F6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3159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 for this?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4400" y="495604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for public repos. Private repos get a monthly minute allowance per org — Linux minutes are the cheap ones.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70832" y="4114800"/>
            <a:ext cx="3429000" cy="2057400"/>
          </a:xfrm>
          <a:prstGeom prst="roundRect">
            <a:avLst>
              <a:gd name="adj" fmla="val 2222"/>
            </a:avLst>
          </a:prstGeom>
          <a:solidFill>
            <a:srgbClr val="EDF2F6"/>
          </a:solidFill>
          <a:ln/>
        </p:spPr>
      </p:sp>
      <p:sp>
        <p:nvSpPr>
          <p:cNvPr id="18" name="Text 16"/>
          <p:cNvSpPr/>
          <p:nvPr/>
        </p:nvSpPr>
        <p:spPr>
          <a:xfrm>
            <a:off x="4645152" y="43159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@v7?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45152" y="495604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version tag on someone else's action. Pin the major version. Never use @main on code you did not write.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01584" y="4114800"/>
            <a:ext cx="3429000" cy="2057400"/>
          </a:xfrm>
          <a:prstGeom prst="roundRect">
            <a:avLst>
              <a:gd name="adj" fmla="val 2222"/>
            </a:avLst>
          </a:prstGeom>
          <a:solidFill>
            <a:srgbClr val="EDF2F6"/>
          </a:solidFill>
          <a:ln/>
        </p:spPr>
      </p:sp>
      <p:sp>
        <p:nvSpPr>
          <p:cNvPr id="21" name="Text 19"/>
          <p:cNvSpPr/>
          <p:nvPr/>
        </p:nvSpPr>
        <p:spPr>
          <a:xfrm>
            <a:off x="8375904" y="431596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it run on our machine?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75904" y="4956048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a self-hosted runner. That is how you would test against real hardware. More in Q&amp;A.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make it 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 2 pipeline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four words. Your commands instead of echo.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6949440" cy="784098"/>
          </a:xfrm>
          <a:prstGeom prst="roundRect">
            <a:avLst>
              <a:gd name="adj" fmla="val 9329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96112" y="4946904"/>
            <a:ext cx="643737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rosdep install   →   colcon build   →   colcon test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0" y="4709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92AE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02-ros2-build-test.yml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NEW IDEAS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ROS comes from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4480560"/>
          </a:xfrm>
          <a:prstGeom prst="roundRect">
            <a:avLst>
              <a:gd name="adj" fmla="val 1020"/>
            </a:avLst>
          </a:prstGeom>
          <a:solidFill>
            <a:srgbClr val="EDF2F6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74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60120" y="2377440"/>
            <a:ext cx="4709160" cy="989838"/>
          </a:xfrm>
          <a:prstGeom prst="roundRect">
            <a:avLst>
              <a:gd name="adj" fmla="val 7390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16152" y="2615184"/>
            <a:ext cx="419709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container: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image: ros:jazzy-ros-base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60120" y="3520440"/>
            <a:ext cx="4709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runner is a bare Ubuntu box with no ROS on it.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could apt-install ROS every run and wait four minutes — or run our steps inside the official ROS image, which already has colcon and rosdep. Same image you would use on the robot.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49240" cy="4480560"/>
          </a:xfrm>
          <a:prstGeom prst="roundRect">
            <a:avLst>
              <a:gd name="adj" fmla="val 1020"/>
            </a:avLst>
          </a:prstGeom>
          <a:solidFill>
            <a:srgbClr val="EDF2F6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874520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rosdep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537960" y="2377440"/>
            <a:ext cx="4709160" cy="989838"/>
          </a:xfrm>
          <a:prstGeom prst="roundRect">
            <a:avLst>
              <a:gd name="adj" fmla="val 7390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992" y="2615184"/>
            <a:ext cx="419709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rosdep install --from-paths .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--ignore-src -y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37960" y="3520440"/>
            <a:ext cx="4709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rosdep reads the &lt;depend&gt; tags in package.xml and apt-installs them.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CI is also a test of whether your package.xml is telling the truth — which catches the classic bug: "it builds on my laptop because I installed something six months ago and forgot."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THINGS THAT BITE EVERYONE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these down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8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15544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run: block is a new shell — and it may not be bash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1143000" y="1993392"/>
            <a:ext cx="10058400" cy="2018538"/>
          </a:xfrm>
          <a:prstGeom prst="roundRect">
            <a:avLst>
              <a:gd name="adj" fmla="val 3624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99032" y="2231136"/>
            <a:ext cx="9546336" cy="154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defaults: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shell: bash        # ← once, at the top of the file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run: |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source /opt/ros/jazzy/setup.bash   # ← in EVERY step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405993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 ROS in one step never carries into the next. And a bare run: can fall back to sh, where source does not exist.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90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6B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43000" y="4590288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colcon test exits 0 even when tests fail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143000" y="5029200"/>
            <a:ext cx="10058400" cy="989838"/>
          </a:xfrm>
          <a:prstGeom prst="roundRect">
            <a:avLst>
              <a:gd name="adj" fmla="val 7390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99032" y="5266944"/>
            <a:ext cx="954633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FF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run: colcon test-result --verbose   # ← without this line,</a:t>
            </a:r>
            <a:endParaRPr lang="en-US" sz="1250" dirty="0"/>
          </a:p>
          <a:p>
            <a:pPr indent="0" marL="0">
              <a:lnSpc>
                <a:spcPts val="2025"/>
              </a:lnSpc>
              <a:buNone/>
            </a:pPr>
            <a:r>
              <a:rPr lang="en-US" sz="1250" dirty="0">
                <a:solidFill>
                  <a:srgbClr val="FF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#   CI is green forever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43000" y="60624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reports that it finished running them, not that they passed. Forget this and you get a pipeline that checks nothing.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THAT OUTLIVES THIS 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 logic where a test can reach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3108960"/>
          </a:xfrm>
          <a:prstGeom prst="roundRect">
            <a:avLst>
              <a:gd name="adj" fmla="val 1471"/>
            </a:avLst>
          </a:prstGeom>
          <a:solidFill>
            <a:srgbClr val="E9F6EF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8288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A9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safety.py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decisions: clamping, the watchdog.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nothing from ROS.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310896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 40 seconds on a free runner.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FA9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DDS. No Gazebo. No GPU. No robot.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60120" y="4069080"/>
            <a:ext cx="1600200" cy="384048"/>
          </a:xfrm>
          <a:prstGeom prst="roundRect">
            <a:avLst>
              <a:gd name="adj" fmla="val 119048"/>
            </a:avLst>
          </a:prstGeom>
          <a:solidFill>
            <a:srgbClr val="1FA971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40690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unit tests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349240" cy="3108960"/>
          </a:xfrm>
          <a:prstGeom prst="roundRect">
            <a:avLst>
              <a:gd name="adj" fmla="val 1471"/>
            </a:avLst>
          </a:prstGeom>
          <a:solidFill>
            <a:srgbClr val="EDF2F6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82880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77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velocity_guard_node.py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224028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shell that moves messages in and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safety.py. Nearly no logic of its own.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3108960"/>
            <a:ext cx="4709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logic lives inside callbacks, the only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way to test it is to launch the whole stack —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will not test it at all.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29200"/>
            <a:ext cx="10911535" cy="1188720"/>
          </a:xfrm>
          <a:prstGeom prst="roundRect">
            <a:avLst>
              <a:gd name="adj" fmla="val 3846"/>
            </a:avLst>
          </a:prstGeom>
          <a:solidFill>
            <a:srgbClr val="0E2233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51755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does not replace testing on hardware.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559552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catches the boring 80% — typos, bad merges, broken dependencies, logic errors — so your scarce robot time goes on the interesting 20%.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THE CENTREPIECE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this a bug?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08792" cy="1175004"/>
          </a:xfrm>
          <a:prstGeom prst="roundRect">
            <a:avLst>
              <a:gd name="adj" fmla="val 6226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837944"/>
            <a:ext cx="10396728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4"/>
              </a:lnSpc>
              <a:buNone/>
            </a:pPr>
            <a:r>
              <a:rPr lang="en-US" sz="1700" dirty="0">
                <a:solidFill>
                  <a:srgbClr val="FF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return max(-limit, min(limit, value))</a:t>
            </a:r>
            <a:endParaRPr lang="en-US" sz="1700" dirty="0"/>
          </a:p>
          <a:p>
            <a:pPr indent="0" marL="0">
              <a:lnSpc>
                <a:spcPts val="2754"/>
              </a:lnSpc>
              <a:buNone/>
            </a:pPr>
            <a:r>
              <a:rPr lang="en-US" sz="170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return min(limit, value)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you catch that in code review at 6pm on a Friday?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37033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17364C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8404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speed is still limited.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42519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looks fine if you drive it forward once.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37033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17364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38404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6B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is now unlimited.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42519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backs into the wall at full speed.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10908792" cy="763524"/>
          </a:xfrm>
          <a:prstGeom prst="roundRect">
            <a:avLst>
              <a:gd name="adj" fmla="val 9581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5586984"/>
            <a:ext cx="1039672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./demo/break-it.sh   &amp;&amp;   git commit -am "simplify clamp"   &amp;&amp;   git push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·  OPEN THE PULL REQUEST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good failure tells you what broke, in English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08792" cy="1627632"/>
          </a:xfrm>
          <a:prstGeom prst="roundRect">
            <a:avLst>
              <a:gd name="adj" fmla="val 4494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883664"/>
            <a:ext cx="103967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FF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test/test_safety.py::test_negative_value_is_saturated_symmetrically</a:t>
            </a:r>
            <a:endParaRPr lang="en-US" sz="14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FF6B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test/test_safety.py::test_clamp_twist_limits_both_axes_independently</a:t>
            </a:r>
            <a:endParaRPr lang="en-US" sz="1400" dirty="0"/>
          </a:p>
          <a:p>
            <a:pPr indent="0" marL="0">
              <a:lnSpc>
                <a:spcPts val="2268"/>
              </a:lnSpc>
              <a:buNone/>
            </a:pPr>
            <a:endParaRPr lang="en-US" sz="1400" dirty="0"/>
          </a:p>
          <a:p>
            <a:pPr indent="0" marL="0">
              <a:lnSpc>
                <a:spcPts val="2268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failed, 7 passed in 0.04s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703320"/>
            <a:ext cx="2286000" cy="384048"/>
          </a:xfrm>
          <a:prstGeom prst="roundRect">
            <a:avLst>
              <a:gd name="adj" fmla="val 119048"/>
            </a:avLst>
          </a:prstGeom>
          <a:solidFill>
            <a:srgbClr val="D9434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70332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2 checks failed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0" y="3657600"/>
            <a:ext cx="8321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did not say "something broke". It named the behaviour that broke.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what a well-named test buys you.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4663440"/>
            <a:ext cx="10911535" cy="1554480"/>
          </a:xfrm>
          <a:prstGeom prst="roundRect">
            <a:avLst>
              <a:gd name="adj" fmla="val 2941"/>
            </a:avLst>
          </a:prstGeom>
          <a:solidFill>
            <a:srgbClr val="EDF2F6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4846320"/>
            <a:ext cx="10149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moment CI is actually for.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05840" y="5257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after you merge — before. The check runs against the merged result, and you can make GitHub refuse the merge until it is green.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03-ROS2-CI-FULL.YML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pipeline looks like after a year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2011680"/>
          </a:xfrm>
          <a:prstGeom prst="roundRect">
            <a:avLst>
              <a:gd name="adj" fmla="val 2273"/>
            </a:avLst>
          </a:prstGeom>
          <a:solidFill>
            <a:srgbClr val="EDF2F6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1947672"/>
            <a:ext cx="420624" cy="420624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47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19293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separate lint job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1460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parallel with the build. Style feedback in 40 seconds instead of 6 minutes. Jobs are parallel by default — free speed.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349240" cy="2011680"/>
          </a:xfrm>
          <a:prstGeom prst="roundRect">
            <a:avLst>
              <a:gd name="adj" fmla="val 2273"/>
            </a:avLst>
          </a:prstGeom>
          <a:solidFill>
            <a:srgbClr val="EDF2F6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1947672"/>
            <a:ext cx="420624" cy="420624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9476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0" y="19293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matrix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37960" y="2514600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file, several ROS distros. This is how you find out you have broken the distro you are migrating to, before migration week.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04488"/>
            <a:ext cx="5349240" cy="2011680"/>
          </a:xfrm>
          <a:prstGeom prst="roundRect">
            <a:avLst>
              <a:gd name="adj" fmla="val 2273"/>
            </a:avLst>
          </a:prstGeom>
          <a:solidFill>
            <a:srgbClr val="EDF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160520"/>
            <a:ext cx="420624" cy="420624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160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142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472744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upload-artifact with if: always() — the test XML is downloadable from the run page precisely when the run failed.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17920" y="3904488"/>
            <a:ext cx="5349240" cy="2011680"/>
          </a:xfrm>
          <a:prstGeom prst="roundRect">
            <a:avLst>
              <a:gd name="adj" fmla="val 2273"/>
            </a:avLst>
          </a:prstGeom>
          <a:solidFill>
            <a:srgbClr val="EDF2F6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4160520"/>
            <a:ext cx="420624" cy="420624"/>
          </a:xfrm>
          <a:prstGeom prst="ellipse">
            <a:avLst/>
          </a:prstGeom>
          <a:solidFill>
            <a:srgbClr val="1FA971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4160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32320" y="41422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Concurrency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4727448"/>
            <a:ext cx="4709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twice in a minute and the first run is cancelled instead of queueing. Saves minutes and patience.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Scroll the file, name the four. Do not read it line by line — you will run out of clock.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CHECKBOX WITH TEETH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you turn this on, CI is a suggestion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1463040"/>
          </a:xfrm>
          <a:prstGeom prst="roundRect">
            <a:avLst>
              <a:gd name="adj" fmla="val 5000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929384"/>
            <a:ext cx="103967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92"/>
              </a:lnSpc>
              <a:buNone/>
            </a:pPr>
            <a:r>
              <a:rPr lang="en-US" sz="1600" dirty="0">
                <a:solidFill>
                  <a:srgbClr val="E9F1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Settings → Branches → Add rule</a:t>
            </a:r>
            <a:endParaRPr lang="en-US" sz="1600" dirty="0"/>
          </a:p>
          <a:p>
            <a:pPr indent="0" marL="0">
              <a:lnSpc>
                <a:spcPts val="2592"/>
              </a:lnSpc>
              <a:buNone/>
            </a:pPr>
            <a:r>
              <a:rPr lang="en-US" sz="16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[x] Require status checks to pass before merging</a:t>
            </a:r>
            <a:endParaRPr lang="en-US" sz="1600" dirty="0"/>
          </a:p>
          <a:p>
            <a:pPr indent="0" marL="0">
              <a:lnSpc>
                <a:spcPts val="2592"/>
              </a:lnSpc>
              <a:buNone/>
            </a:pPr>
            <a:r>
              <a:rPr lang="en-US" sz="1600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[x] CI passed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520440"/>
            <a:ext cx="5349240" cy="1691640"/>
          </a:xfrm>
          <a:prstGeom prst="roundRect">
            <a:avLst>
              <a:gd name="adj" fmla="val 2703"/>
            </a:avLst>
          </a:prstGeom>
          <a:solidFill>
            <a:srgbClr val="17364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758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406908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merge a red PR at 6pm because they are in a hurry. Everybody has done it.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3520440"/>
            <a:ext cx="5349240" cy="1691640"/>
          </a:xfrm>
          <a:prstGeom prst="roundRect">
            <a:avLst>
              <a:gd name="adj" fmla="val 2703"/>
            </a:avLst>
          </a:prstGeom>
          <a:solidFill>
            <a:srgbClr val="17364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367588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B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7960" y="406908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cannot be broken. For a shared lab repo this is the single highest-value checkbox on GitHub.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92AE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rule at the one "CI passed" job, not at every matrix leg — then you never have to update the required-checks list when the matrix changes.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5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"CD" hooks on later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11535" cy="1325880"/>
          </a:xfrm>
          <a:prstGeom prst="roundRect">
            <a:avLst>
              <a:gd name="adj" fmla="val 3448"/>
            </a:avLst>
          </a:prstGeom>
          <a:solidFill>
            <a:srgbClr val="EDF2F6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D98B2B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1305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1874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a container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54480" y="2295144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Docker image of the workspace and push it to GHCR when you tag a release. Now everyone runs the same environment.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172968"/>
            <a:ext cx="10911535" cy="1325880"/>
          </a:xfrm>
          <a:prstGeom prst="roundRect">
            <a:avLst>
              <a:gd name="adj" fmla="val 3448"/>
            </a:avLst>
          </a:prstGeom>
          <a:solidFill>
            <a:srgbClr val="EDF2F6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611880"/>
            <a:ext cx="420624" cy="420624"/>
          </a:xfrm>
          <a:prstGeom prst="ellipse">
            <a:avLst/>
          </a:prstGeom>
          <a:solidFill>
            <a:srgbClr val="D98B2B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35584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a release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554480" y="3776472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 .deb, a bag file, or the test report to a GitHub Release so results are citable in six months.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654296"/>
            <a:ext cx="10911535" cy="1325880"/>
          </a:xfrm>
          <a:prstGeom prst="roundRect">
            <a:avLst>
              <a:gd name="adj" fmla="val 3448"/>
            </a:avLst>
          </a:prstGeom>
          <a:solidFill>
            <a:srgbClr val="EDF2F6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5093208"/>
            <a:ext cx="420624" cy="420624"/>
          </a:xfrm>
          <a:prstGeom prst="ellipse">
            <a:avLst/>
          </a:prstGeom>
          <a:solidFill>
            <a:srgbClr val="D98B2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5093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runner in the lab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554480" y="5257800"/>
            <a:ext cx="9326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Self-hosted runner on real hardware, for the integration tests that genuinely need a robot. Nightly, or on a label.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61722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3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put "deploy to the robot" on push: main without a human in the loop.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BEFORE NEXT WEEK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22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EDF2F6"/>
          </a:solidFill>
          <a:ln/>
        </p:spPr>
      </p:sp>
      <p:sp>
        <p:nvSpPr>
          <p:cNvPr id="5" name="Shape 3"/>
          <p:cNvSpPr/>
          <p:nvPr/>
        </p:nvSpPr>
        <p:spPr>
          <a:xfrm>
            <a:off x="896112" y="1773936"/>
            <a:ext cx="402336" cy="402336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645920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turtle_guard, or pick one of your own ROS 2 repos.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2404872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EDF2F6"/>
          </a:solidFill>
          <a:ln/>
        </p:spPr>
      </p:sp>
      <p:sp>
        <p:nvSpPr>
          <p:cNvPr id="9" name="Shape 7"/>
          <p:cNvSpPr/>
          <p:nvPr/>
        </p:nvSpPr>
        <p:spPr>
          <a:xfrm>
            <a:off x="896112" y="2532888"/>
            <a:ext cx="402336" cy="402336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08760" y="2404872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02-ros2-build-test.yml into .github/workflows/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40080" y="3163824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EDF2F6"/>
          </a:solidFill>
          <a:ln/>
        </p:spPr>
      </p:sp>
      <p:sp>
        <p:nvSpPr>
          <p:cNvPr id="13" name="Shape 11"/>
          <p:cNvSpPr/>
          <p:nvPr/>
        </p:nvSpPr>
        <p:spPr>
          <a:xfrm>
            <a:off x="896112" y="3291840"/>
            <a:ext cx="402336" cy="402336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3291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508760" y="3163824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--packages-select turtle_guard to your package name.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FBECED"/>
          </a:solidFill>
          <a:ln/>
        </p:spPr>
      </p:sp>
      <p:sp>
        <p:nvSpPr>
          <p:cNvPr id="17" name="Shape 15"/>
          <p:cNvSpPr/>
          <p:nvPr/>
        </p:nvSpPr>
        <p:spPr>
          <a:xfrm>
            <a:off x="896112" y="4050792"/>
            <a:ext cx="402336" cy="402336"/>
          </a:xfrm>
          <a:prstGeom prst="ellipse">
            <a:avLst/>
          </a:prstGeom>
          <a:solidFill>
            <a:srgbClr val="D9434B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40507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3922776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Push. Watch it fail.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9052560" y="3922776"/>
            <a:ext cx="24688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D943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will fail — usually a missing &lt;depend&gt;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681728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EDF2F6"/>
          </a:solidFill>
          <a:ln/>
        </p:spPr>
      </p:sp>
      <p:sp>
        <p:nvSpPr>
          <p:cNvPr id="22" name="Shape 20"/>
          <p:cNvSpPr/>
          <p:nvPr/>
        </p:nvSpPr>
        <p:spPr>
          <a:xfrm>
            <a:off x="896112" y="4809744"/>
            <a:ext cx="402336" cy="402336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" y="4809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08760" y="4681728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that. The fix is real, and it was a real bug.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0080" y="5440680"/>
            <a:ext cx="10911535" cy="676656"/>
          </a:xfrm>
          <a:prstGeom prst="roundRect">
            <a:avLst>
              <a:gd name="adj" fmla="val 6757"/>
            </a:avLst>
          </a:prstGeom>
          <a:solidFill>
            <a:srgbClr val="EDF2F6"/>
          </a:solidFill>
          <a:ln/>
        </p:spPr>
      </p:sp>
      <p:sp>
        <p:nvSpPr>
          <p:cNvPr id="26" name="Shape 24"/>
          <p:cNvSpPr/>
          <p:nvPr/>
        </p:nvSpPr>
        <p:spPr>
          <a:xfrm>
            <a:off x="896112" y="5568696"/>
            <a:ext cx="402336" cy="402336"/>
          </a:xfrm>
          <a:prstGeom prst="ellipse">
            <a:avLst/>
          </a:prstGeom>
          <a:solidFill>
            <a:srgbClr val="0E2233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" y="55686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08760" y="5440680"/>
            <a:ext cx="7498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E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on branch protection for main.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640080" y="62179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77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and pair with me if you get stuck on step 4. That step is the whole workshop.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45920"/>
            <a:ext cx="10424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losing a Monday morning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something a computer could have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b="1" dirty="0">
                <a:solidFill>
                  <a:srgbClr val="E9F1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told you about on Friday afternoon.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40233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forty seconds.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4937760"/>
            <a:ext cx="6949440" cy="1092708"/>
          </a:xfrm>
          <a:prstGeom prst="roundRect">
            <a:avLst>
              <a:gd name="adj" fmla="val 6695"/>
            </a:avLst>
          </a:prstGeom>
          <a:solidFill>
            <a:srgbClr val="0E2233"/>
          </a:solidFill>
          <a:ln w="12700">
            <a:solidFill>
              <a:srgbClr val="2A4C66"/>
            </a:solidFill>
            <a:prstDash val="solid"/>
          </a:ln>
          <a:effectLst>
            <a:outerShdw sx="100000" sy="100000" kx="0" ky="0" algn="bl" rotWithShape="0" blurRad="127000" dist="38100" dir="5400000">
              <a:srgbClr val="0E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5175504"/>
            <a:ext cx="643737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30"/>
              </a:lnSpc>
              <a:buNone/>
            </a:pPr>
            <a:r>
              <a:rPr lang="en-US" sz="1500" b="1" dirty="0">
                <a:solidFill>
                  <a:srgbClr val="3BD6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github.com/&lt;your-lab&gt;/ros2-ci-workshop</a:t>
            </a:r>
            <a:endParaRPr lang="en-US" sz="1500" dirty="0"/>
          </a:p>
          <a:p>
            <a:pPr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92AE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workflows · demo scripts · these slides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595360" y="5230368"/>
            <a:ext cx="2331720" cy="566928"/>
          </a:xfrm>
          <a:prstGeom prst="roundRect">
            <a:avLst>
              <a:gd name="adj" fmla="val 80645"/>
            </a:avLst>
          </a:prstGeom>
          <a:solidFill>
            <a:srgbClr val="1FA971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0" y="5230368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CI/CD for Robots — GitHub Actions + ROS 2</dc:title>
  <dc:subject>PptxGenJS Presentation</dc:subject>
  <dc:creator>Robotics Lab</dc:creator>
  <cp:lastModifiedBy>Robotics Lab</cp:lastModifiedBy>
  <cp:revision>1</cp:revision>
  <dcterms:created xsi:type="dcterms:W3CDTF">2026-08-21T10:37:10Z</dcterms:created>
  <dcterms:modified xsi:type="dcterms:W3CDTF">2026-08-21T10:37:10Z</dcterms:modified>
</cp:coreProperties>
</file>