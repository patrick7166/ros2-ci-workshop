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Do NOT define CI yet — tell the Friday story first (next slide). Repo URL should already be in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lab story, not a definition. Keep it under 90 seconds, then go straight to the hands-up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for actual hands. Silence here is fine — it makes the point. :04 by the end of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arrow chain on the whiteboard as you say it. The two bottom cards are the surprising bits — say both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each word once, plainly. Do not add jargon. These four map 1:1 onto the YAML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seconds, no more. Ask the room WHY a robot is different before you give the answer — someone will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file ON GITHUB, not in your editor. Read it top to bottom out loud, pointing at each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apologise for the wait. Fill it with the "who pays for this" material on the next slide if you need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questions always come. Answer in one line each and move on — do not let self-hosted runners eat five minutes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as: exactly the same thing you type on your own machine. Nothing new except where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ros-tooling/setup-ros and action-ros-ci exist and collapse this to one line — but do NOT demo them. Writing it by hand is the point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 1 has two halves: new shell every step, AND the container may hand you sh instead of bash. The tell is "source: not found". Gotcha 2 is the one that produces a permanently-green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checklist for "NO TESTS RAN". All three must be present. Attendees will hit this when they copy the workflow to their own repo — knowing the list saves 30 minutes of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full minute here. Open both files side by side. This is a DESIGN lesson that happens to also be a CI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 BEFORE PUSHING. Ask the room. Let the silence sit. Someone usually gets it — then land the reverse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Details, scroll to the assertion, read it aloud. Then ./demo/fix-it.sh, push, refresh, green, merge. Six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minutes for this whole section. If you are behind, cut this slide entirely and go straight to branch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with real organisational consequences. Say plainly: a permanently red main is worse than no CI, because people stop reading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Do not demo any of this. It is a map of where they go next, not today's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repo URL in chat again here. Offer to pair — say it like you mean it, and put a time on the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the whole 15 minutes of Q&amp;A. Repo URL stays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for robots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pPr indent="0" marL="0">
              <a:buNone/>
            </a:pPr>
            <a:r>
              <a:rPr lang="en-US" sz="2600" dirty="0">
                <a:solidFill>
                  <a:srgbClr val="92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pPr indent="0" marL="0">
              <a:buNone/>
            </a:pPr>
            <a:r>
              <a:rPr lang="en-US" sz="2600" b="1" dirty="0">
                <a:solidFill>
                  <a:srgbClr val="3B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builds and tests the code on a clean machine,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"works on my laptop" stops being a thing anybody has to say.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129784"/>
            <a:ext cx="51572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build   ✓ test   ✓ lint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60920" y="5138928"/>
            <a:ext cx="2377440" cy="384048"/>
          </a:xfrm>
          <a:prstGeom prst="roundRect">
            <a:avLst>
              <a:gd name="adj" fmla="val 119048"/>
            </a:avLst>
          </a:prstGeom>
          <a:solidFill>
            <a:srgbClr val="1FA971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5138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PASSED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new lab members  ·  bring a laptop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did anything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841248"/>
          </a:xfrm>
          <a:prstGeom prst="roundRect">
            <a:avLst>
              <a:gd name="adj" fmla="val 5435"/>
            </a:avLst>
          </a:prstGeom>
          <a:solidFill>
            <a:srgbClr val="EDF2F6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65506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17:40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655064"/>
            <a:ext cx="8625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pushes a small change to the velocity limiter.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10911535" cy="841248"/>
          </a:xfrm>
          <a:prstGeom prst="roundRect">
            <a:avLst>
              <a:gd name="adj" fmla="val 5435"/>
            </a:avLst>
          </a:prstGeom>
          <a:solidFill>
            <a:srgbClr val="EDF2F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62432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17:41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624328"/>
            <a:ext cx="8625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fine on their machine — the stale install/ folder still has the old headers.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38728"/>
            <a:ext cx="10911535" cy="841248"/>
          </a:xfrm>
          <a:prstGeom prst="roundRect">
            <a:avLst>
              <a:gd name="adj" fmla="val 5435"/>
            </a:avLst>
          </a:prstGeom>
          <a:solidFill>
            <a:srgbClr val="FBECED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935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09:15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593592"/>
            <a:ext cx="8625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pulls main. The robot will not build.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07992"/>
            <a:ext cx="10911535" cy="841248"/>
          </a:xfrm>
          <a:prstGeom prst="roundRect">
            <a:avLst>
              <a:gd name="adj" fmla="val 5435"/>
            </a:avLst>
          </a:prstGeom>
          <a:solidFill>
            <a:srgbClr val="FBECED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6285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12:30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562856"/>
            <a:ext cx="8625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have lost a morning.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742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discipline problem. It is a missing-feedback problem.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743200"/>
          </a:xfrm>
          <a:prstGeom prst="roundRect">
            <a:avLst>
              <a:gd name="adj" fmla="val 1667"/>
            </a:avLst>
          </a:prstGeom>
          <a:solidFill>
            <a:srgbClr val="ED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pulled main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found it broken?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429000" cy="2743200"/>
          </a:xfrm>
          <a:prstGeom prst="roundRect">
            <a:avLst>
              <a:gd name="adj" fmla="val 1667"/>
            </a:avLst>
          </a:prstGeom>
          <a:solidFill>
            <a:srgbClr val="ED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690872" y="2057400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7432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said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"but it works on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machine"?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429000" cy="2743200"/>
          </a:xfrm>
          <a:prstGeom prst="roundRect">
            <a:avLst>
              <a:gd name="adj" fmla="val 1667"/>
            </a:avLst>
          </a:prstGeom>
          <a:solidFill>
            <a:srgbClr val="ED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21624" y="2057400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1624" y="27432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pushed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that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compile?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own hand up first, on all three.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911535" cy="960120"/>
          </a:xfrm>
          <a:prstGeom prst="roundRect">
            <a:avLst>
              <a:gd name="adj" fmla="val 4762"/>
            </a:avLst>
          </a:prstGeom>
          <a:solidFill>
            <a:srgbClr val="0E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2578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is just automatic feedback. That is the entire idea.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 ACTUALLY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push. A stranger's computer checks your work.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926080" cy="1783080"/>
          </a:xfrm>
          <a:prstGeom prst="roundRect">
            <a:avLst>
              <a:gd name="adj" fmla="val 2564"/>
            </a:avLst>
          </a:prstGeom>
          <a:solidFill>
            <a:srgbClr val="EDF2F6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542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lands 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84448" y="187452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86200" y="1874520"/>
            <a:ext cx="2926080" cy="1783080"/>
          </a:xfrm>
          <a:prstGeom prst="roundRect">
            <a:avLst>
              <a:gd name="adj" fmla="val 2564"/>
            </a:avLst>
          </a:prstGeom>
          <a:solidFill>
            <a:srgbClr val="EDF2F6"/>
          </a:solidFill>
          <a:ln/>
        </p:spPr>
      </p:sp>
      <p:sp>
        <p:nvSpPr>
          <p:cNvPr id="9" name="Text 7"/>
          <p:cNvSpPr/>
          <p:nvPr/>
        </p:nvSpPr>
        <p:spPr>
          <a:xfrm>
            <a:off x="4142232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rents a VM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42232" y="2542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machine,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30568" y="187452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132320" y="1874520"/>
            <a:ext cx="2926080" cy="1783080"/>
          </a:xfrm>
          <a:prstGeom prst="roundRect">
            <a:avLst>
              <a:gd name="adj" fmla="val 2564"/>
            </a:avLst>
          </a:prstGeom>
          <a:solidFill>
            <a:srgbClr val="ED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88352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your commands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88352" y="2542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lint 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ones you type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85832" y="1874520"/>
            <a:ext cx="329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469880" y="2240280"/>
            <a:ext cx="1051560" cy="457200"/>
          </a:xfrm>
          <a:prstGeom prst="roundRect">
            <a:avLst>
              <a:gd name="adj" fmla="val 100000"/>
            </a:avLst>
          </a:prstGeom>
          <a:solidFill>
            <a:srgbClr val="1FA971"/>
          </a:solidFill>
          <a:ln/>
        </p:spPr>
      </p:sp>
      <p:sp>
        <p:nvSpPr>
          <p:cNvPr id="17" name="Text 15"/>
          <p:cNvSpPr/>
          <p:nvPr/>
        </p:nvSpPr>
        <p:spPr>
          <a:xfrm>
            <a:off x="10469880" y="2240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69880" y="2834640"/>
            <a:ext cx="1051560" cy="457200"/>
          </a:xfrm>
          <a:prstGeom prst="roundRect">
            <a:avLst>
              <a:gd name="adj" fmla="val 100000"/>
            </a:avLst>
          </a:prstGeom>
          <a:solidFill>
            <a:srgbClr val="D9434B"/>
          </a:solidFill>
          <a:ln/>
        </p:spPr>
      </p:sp>
      <p:sp>
        <p:nvSpPr>
          <p:cNvPr id="19" name="Text 17"/>
          <p:cNvSpPr/>
          <p:nvPr/>
        </p:nvSpPr>
        <p:spPr>
          <a:xfrm>
            <a:off x="10469880" y="2834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then the machine is destroyed.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ED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is thrown away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install persists. That is the feature —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why CI catches "I forgot to commit that file".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ED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0 is the whole contract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10528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does not understand your tests. It runs a command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looks at the exit code. 0 is green. Anything else is red.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words. That is the whole vocabulary.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932688"/>
          </a:xfrm>
          <a:prstGeom prst="roundRect">
            <a:avLst>
              <a:gd name="adj" fmla="val 4902"/>
            </a:avLst>
          </a:prstGeom>
          <a:solidFill>
            <a:srgbClr val="ED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47672"/>
            <a:ext cx="420624" cy="42062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7848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happened in the repo — usually a push or a pull request.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911535" cy="932688"/>
          </a:xfrm>
          <a:prstGeom prst="roundRect">
            <a:avLst>
              <a:gd name="adj" fmla="val 4902"/>
            </a:avLst>
          </a:prstGeom>
          <a:solidFill>
            <a:srgbClr val="ED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17520"/>
            <a:ext cx="420624" cy="42062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8529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37560" y="2852928"/>
            <a:ext cx="7848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in .github/workflows/ that says "when X happens, do Y".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911535" cy="932688"/>
          </a:xfrm>
          <a:prstGeom prst="roundRect">
            <a:avLst>
              <a:gd name="adj" fmla="val 4902"/>
            </a:avLst>
          </a:prstGeom>
          <a:solidFill>
            <a:srgbClr val="ED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87368"/>
            <a:ext cx="420624" cy="42062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92277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337560" y="3922776"/>
            <a:ext cx="7848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work that gets its own brand-new computer. Jobs run in parallel.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901184"/>
            <a:ext cx="10911535" cy="932688"/>
          </a:xfrm>
          <a:prstGeom prst="roundRect">
            <a:avLst>
              <a:gd name="adj" fmla="val 4902"/>
            </a:avLst>
          </a:prstGeom>
          <a:solidFill>
            <a:srgbClr val="ED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157216"/>
            <a:ext cx="420624" cy="42062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99262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337560" y="4992624"/>
            <a:ext cx="7848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or one reusable action, inside a job.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you will ever read about GitHub Actions is a variation on these four.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LETTER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the "CD" part?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286000"/>
          </a:xfrm>
          <a:prstGeom prst="roundRect">
            <a:avLst>
              <a:gd name="adj" fmla="val 2000"/>
            </a:avLst>
          </a:prstGeom>
          <a:solidFill>
            <a:srgbClr val="EDF2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·  Continuous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build? Did the tests pass?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push and every pull request.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90% of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49240" cy="2286000"/>
          </a:xfrm>
          <a:prstGeom prst="roundRect">
            <a:avLst>
              <a:gd name="adj" fmla="val 2000"/>
            </a:avLst>
          </a:prstGeom>
          <a:solidFill>
            <a:srgbClr val="EDF2F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 ·  Continuous Delivery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now ship it somewhere.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Docker image, cut a release, deploy.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5 minutes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911535" cy="1691640"/>
          </a:xfrm>
          <a:prstGeom prst="roundRect">
            <a:avLst>
              <a:gd name="adj" fmla="val 2703"/>
            </a:avLst>
          </a:prstGeom>
          <a:solidFill>
            <a:srgbClr val="0E223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4956048"/>
            <a:ext cx="457200" cy="457200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4572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is not a web server.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50292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auto-deploy a website at 3am and roll it back at 3:01. A bad rollback on a robot moves.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between "tests passed" and "it is on the hardware".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01-HELLO-CI.YML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words, in a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720840" cy="3252978"/>
          </a:xfrm>
          <a:prstGeom prst="roundRect">
            <a:avLst>
              <a:gd name="adj" fmla="val 2249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37944"/>
            <a:ext cx="6208776" cy="277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say-hello: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actions/checkout@v7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echo "Hello from $(hostname)"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98280" y="1737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that wakes it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98280" y="2304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by you; own fresh VM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98280" y="2871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GitHub rents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34381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98280" y="3438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reusable 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4005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8280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shell command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911535" cy="1234440"/>
          </a:xfrm>
          <a:prstGeom prst="roundRect">
            <a:avLst>
              <a:gd name="adj" fmla="val 3704"/>
            </a:avLst>
          </a:prstGeom>
          <a:solidFill>
            <a:srgbClr val="1736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0235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just a file in the repo.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no console, no separate CI server to log into. You review it, diff it and revert it like any other code.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DO THIS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anything. Watch it run.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720840" cy="2018538"/>
          </a:xfrm>
          <a:prstGeom prst="roundRect">
            <a:avLst>
              <a:gd name="adj" fmla="val 3624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83664"/>
            <a:ext cx="6208776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"# workshop $(date +%H:%M)" &gt;&gt; README.md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-am "trigger CI"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open the Actions tab and refresh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runs, say this: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"Right now GitHub is booting a virtual machine somewhere for us. That is the ten seconds."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11535" cy="2148840"/>
          </a:xfrm>
          <a:prstGeom prst="roundRect">
            <a:avLst>
              <a:gd name="adj" fmla="val 2128"/>
            </a:avLst>
          </a:prstGeom>
          <a:solidFill>
            <a:srgbClr val="1736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1879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run page, point at: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61772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names — they match the YAML you just read, line for 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up job" at the top — GitHub's own bookkeeping, ignore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hostname output — that computer did not exist twenty seconds ago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run time in the corner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ACTIONS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outcomes. That is the whole interface.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E9F6E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65960"/>
            <a:ext cx="1691640" cy="384048"/>
          </a:xfrm>
          <a:prstGeom prst="roundRect">
            <a:avLst>
              <a:gd name="adj" fmla="val 119048"/>
            </a:avLst>
          </a:prstGeom>
          <a:solidFill>
            <a:srgbClr val="1FA97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965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exited 0. Merge with a clear head.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BECED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65960"/>
            <a:ext cx="1691640" cy="384048"/>
          </a:xfrm>
          <a:prstGeom prst="roundRect">
            <a:avLst>
              <a:gd name="adj" fmla="val 119048"/>
            </a:avLst>
          </a:prstGeom>
          <a:solidFill>
            <a:srgbClr val="D9434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FAILURE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965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exited non-zero. Click through to the step, read the last 20 lines.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ED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159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for this?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560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public repos. Private repos get a monthly minute allowance per org — Linux minutes are the cheap ones.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0832" y="411480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ED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43159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@v7?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9560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tag on someone else's action. Pin the major version. Never use @main on code you did not write.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1584" y="4114800"/>
            <a:ext cx="3429000" cy="2057400"/>
          </a:xfrm>
          <a:prstGeom prst="roundRect">
            <a:avLst>
              <a:gd name="adj" fmla="val 2222"/>
            </a:avLst>
          </a:prstGeom>
          <a:solidFill>
            <a:srgbClr val="ED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43159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run on our machine?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75904" y="49560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self-hosted runner. That is how you would test against real hardware. More in Q&amp;A.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make it 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pipeline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words. Your commands instead of echo.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6949440" cy="784098"/>
          </a:xfrm>
          <a:prstGeom prst="roundRect">
            <a:avLst>
              <a:gd name="adj" fmla="val 9329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4946904"/>
            <a:ext cx="643737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rosdep install   →   colcon build   →   colcon 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02-ros2-build-test.yml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IDEAS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ROS comes from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80560"/>
          </a:xfrm>
          <a:prstGeom prst="roundRect">
            <a:avLst>
              <a:gd name="adj" fmla="val 1020"/>
            </a:avLst>
          </a:prstGeom>
          <a:solidFill>
            <a:srgbClr val="EDF2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4709160" cy="989838"/>
          </a:xfrm>
          <a:prstGeom prst="roundRect">
            <a:avLst>
              <a:gd name="adj" fmla="val 7390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615184"/>
            <a:ext cx="41970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container: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ros:jazzy-ros-base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is a bare Ubuntu box with no ROS on it.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apt-install ROS every run and wait four minutes — or run our steps inside the official ROS image, which already has colcon and rosdep. Same image you would use on the robot.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4480560"/>
          </a:xfrm>
          <a:prstGeom prst="roundRect">
            <a:avLst>
              <a:gd name="adj" fmla="val 1020"/>
            </a:avLst>
          </a:prstGeom>
          <a:solidFill>
            <a:srgbClr val="EDF2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rosdep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7960" y="2377440"/>
            <a:ext cx="4709160" cy="989838"/>
          </a:xfrm>
          <a:prstGeom prst="roundRect">
            <a:avLst>
              <a:gd name="adj" fmla="val 7390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615184"/>
            <a:ext cx="41970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rosdep install --from-paths .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--ignore-src -y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rosdep reads the &lt;depend&gt; tags in package.xml and apt-installs them.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CI is also a test of whether your package.xml is telling the truth — which catches the classic bug: "it builds on my laptop because I installed something six months ago and forgot."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THINGS THAT BITE EVERYONE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these down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run: block is a new shell — and it may not be bash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1993392"/>
            <a:ext cx="10058400" cy="2018538"/>
          </a:xfrm>
          <a:prstGeom prst="roundRect">
            <a:avLst>
              <a:gd name="adj" fmla="val 3624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99032" y="2231136"/>
            <a:ext cx="9546336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defaults: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shell: bash        # ← once, at the top of the file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|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 /opt/ros/jazzy/setup.bash   # ← in EVERY step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40599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ROS in one step never carries into the next. And a bare run: can fall back to sh, where source does not exist.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colcon test exits 0 even when tests fail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5029200"/>
            <a:ext cx="10058400" cy="989838"/>
          </a:xfrm>
          <a:prstGeom prst="roundRect">
            <a:avLst>
              <a:gd name="adj" fmla="val 7390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99032" y="5266944"/>
            <a:ext cx="954633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colcon test-result --verbose   # ← without this line,</a:t>
            </a:r>
            <a:endParaRPr lang="en-US" sz="12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#   CI is green forever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6062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that it finished running them, not that they passed. Forget this and you get a pipeline that checks nothing.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02-ROS2-BUILD-TEST.YML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colcon test: three things to get right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3067812"/>
          </a:xfrm>
          <a:prstGeom prst="roundRect">
            <a:avLst>
              <a:gd name="adj" fmla="val 2385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37944"/>
            <a:ext cx="10396728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setup.py — tell colcon to use pytest, not unittest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tests_require=['pytest'],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before colcon test — PYTHONPATH for the pytest subprocess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install/setup.bash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test --packages-select turtle_guard --event-handlers console_direct+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after — colcon test exits 0 even when tests fail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b="1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test-result --verbose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17364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974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538581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unittest exits code 5 with "NO TESTS RAN". Plain def test_*() functions are invisible to the unittest runner.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480060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17364C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4974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538581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pytest subprocess has no PYTHONPATH, cannot import your package, and finds zero tests — silently.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480060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17364C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4974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57616" y="538581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colcon test exits 0 even when tests fail. CI is permanently green and checks nothing.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OUTLIVES THIS 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logic where a test can reach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1471"/>
            </a:avLst>
          </a:prstGeom>
          <a:solidFill>
            <a:srgbClr val="E9F6E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decisions: clamping, the watchdog.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nothing from ROS.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 40 seconds on a free runner.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DDS. No Gazebo. No GPU. No robot.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4069080"/>
            <a:ext cx="1600200" cy="384048"/>
          </a:xfrm>
          <a:prstGeom prst="roundRect">
            <a:avLst>
              <a:gd name="adj" fmla="val 119048"/>
            </a:avLst>
          </a:prstGeom>
          <a:solidFill>
            <a:srgbClr val="1FA97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069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unit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49240" cy="3108960"/>
          </a:xfrm>
          <a:prstGeom prst="roundRect">
            <a:avLst>
              <a:gd name="adj" fmla="val 1471"/>
            </a:avLst>
          </a:prstGeom>
          <a:solidFill>
            <a:srgbClr val="EDF2F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velocity_guard_node.py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shell that moves messages in and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safety.py. Nearly no logic of its own.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logic lives inside callbacks, the only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 test it is to launch the whole stack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you will not test it at all.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11535" cy="1188720"/>
          </a:xfrm>
          <a:prstGeom prst="roundRect">
            <a:avLst>
              <a:gd name="adj" fmla="val 3846"/>
            </a:avLst>
          </a:prstGeom>
          <a:solidFill>
            <a:srgbClr val="0E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17550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 not replace testing on hardware.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the boring 80% — typos, bad merges, broken dependencies, logic errors — so your scarce robot time goes on the interesting 20%.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THE CENTREPIECE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bug?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1175004"/>
          </a:xfrm>
          <a:prstGeom prst="roundRect">
            <a:avLst>
              <a:gd name="adj" fmla="val 6226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37944"/>
            <a:ext cx="103967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4"/>
              </a:lnSpc>
              <a:buNone/>
            </a:pPr>
            <a:r>
              <a:rPr lang="en-US" sz="1700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return max(-limit, min(limit, value))</a:t>
            </a:r>
            <a:endParaRPr lang="en-US" sz="1700" dirty="0"/>
          </a:p>
          <a:p>
            <a:pPr indent="0" marL="0">
              <a:lnSpc>
                <a:spcPts val="2754"/>
              </a:lnSpc>
              <a:buNone/>
            </a:pPr>
            <a:r>
              <a:rPr lang="en-US" sz="170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return min(limit, value)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catch that in code review at 6pm on a Friday?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1736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8404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speed is still limited.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fine if you drive it forward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349240" cy="1371600"/>
          </a:xfrm>
          <a:prstGeom prst="roundRect">
            <a:avLst>
              <a:gd name="adj" fmla="val 3333"/>
            </a:avLst>
          </a:prstGeom>
          <a:solidFill>
            <a:srgbClr val="17364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8404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is now unlimited.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4251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backs into the wall at full speed.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763524"/>
          </a:xfrm>
          <a:prstGeom prst="roundRect">
            <a:avLst>
              <a:gd name="adj" fmla="val 9581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586984"/>
            <a:ext cx="103967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./demo/break-it.sh   &amp;&amp;   git commit -am "simplify clamp"   &amp;&amp;   git push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OPEN THE PULL REQUEST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failure tells you what broke, in English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627632"/>
          </a:xfrm>
          <a:prstGeom prst="roundRect">
            <a:avLst>
              <a:gd name="adj" fmla="val 4494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83664"/>
            <a:ext cx="103967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test/test_safety.py::test_negative_value_is_saturated_symmetrically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FF6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test/test_safety.py::test_clamp_twist_limits_both_axes_independently</a:t>
            </a: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endParaRPr lang="en-US" sz="14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failed, 7 passed in 0.04s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2286000" cy="384048"/>
          </a:xfrm>
          <a:prstGeom prst="roundRect">
            <a:avLst>
              <a:gd name="adj" fmla="val 119048"/>
            </a:avLst>
          </a:prstGeom>
          <a:solidFill>
            <a:srgbClr val="D943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2 checks failed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36576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say "something broke". It named the behaviour that broke.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a well-named test buys you.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911535" cy="1554480"/>
          </a:xfrm>
          <a:prstGeom prst="roundRect">
            <a:avLst>
              <a:gd name="adj" fmla="val 2941"/>
            </a:avLst>
          </a:prstGeom>
          <a:solidFill>
            <a:srgbClr val="EDF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84632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moment CI is actually for.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 you merge — before. The check runs against the merged result, and you can make GitHub refuse the merge until it is green.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03-ROS2-CI-FULL.YML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pipeline looks like after a year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11680"/>
          </a:xfrm>
          <a:prstGeom prst="roundRect">
            <a:avLst>
              <a:gd name="adj" fmla="val 2273"/>
            </a:avLst>
          </a:prstGeom>
          <a:solidFill>
            <a:srgbClr val="ED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47672"/>
            <a:ext cx="420624" cy="420624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929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lint job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the build. Style feedback in 40 seconds instead of 6 minutes. Jobs are parallel by default — free speed.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011680"/>
          </a:xfrm>
          <a:prstGeom prst="roundRect">
            <a:avLst>
              <a:gd name="adj" fmla="val 2273"/>
            </a:avLst>
          </a:prstGeom>
          <a:solidFill>
            <a:srgbClr val="ED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47672"/>
            <a:ext cx="420624" cy="420624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929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several ROS distros. This is how you find out you have broken the distro you are migrating to, before migration week.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5349240" cy="2011680"/>
          </a:xfrm>
          <a:prstGeom prst="roundRect">
            <a:avLst>
              <a:gd name="adj" fmla="val 2273"/>
            </a:avLst>
          </a:prstGeom>
          <a:solidFill>
            <a:srgbClr val="ED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160520"/>
            <a:ext cx="420624" cy="420624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7274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upload-artifact with if: always() — the test XML is downloadable from the run page precisely when the run failed.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904488"/>
            <a:ext cx="5349240" cy="2011680"/>
          </a:xfrm>
          <a:prstGeom prst="roundRect">
            <a:avLst>
              <a:gd name="adj" fmla="val 2273"/>
            </a:avLst>
          </a:prstGeom>
          <a:solidFill>
            <a:srgbClr val="ED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160520"/>
            <a:ext cx="420624" cy="420624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142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47274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twice in a minute and the first run is cancelled instead of queueing. Saves minutes and patience.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the file, name the four. Do not read it line by line — you will run out of clock.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CHECKBOX WITH TEETH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you turn this on, CI is a suggestion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29384"/>
            <a:ext cx="10396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92"/>
              </a:lnSpc>
              <a:buNone/>
            </a:pPr>
            <a:r>
              <a:rPr lang="en-US" sz="1600" dirty="0">
                <a:solidFill>
                  <a:srgbClr val="E9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→ Branches → Add rule</a:t>
            </a:r>
            <a:endParaRPr lang="en-US" sz="1600" dirty="0"/>
          </a:p>
          <a:p>
            <a:pPr indent="0" marL="0">
              <a:lnSpc>
                <a:spcPts val="2592"/>
              </a:lnSpc>
              <a:buNone/>
            </a:pPr>
            <a:r>
              <a:rPr lang="en-US" sz="16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[x] Require status checks to pass before merging</a:t>
            </a:r>
            <a:endParaRPr lang="en-US" sz="1600" dirty="0"/>
          </a:p>
          <a:p>
            <a:pPr indent="0" marL="0">
              <a:lnSpc>
                <a:spcPts val="2592"/>
              </a:lnSpc>
              <a:buNone/>
            </a:pPr>
            <a:r>
              <a:rPr lang="en-US" sz="1600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[x] CI passed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5349240" cy="1691640"/>
          </a:xfrm>
          <a:prstGeom prst="roundRect">
            <a:avLst>
              <a:gd name="adj" fmla="val 2703"/>
            </a:avLst>
          </a:prstGeom>
          <a:solidFill>
            <a:srgbClr val="17364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758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merge a red PR at 6pm because they are in a hurry. Everybody has done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520440"/>
            <a:ext cx="5349240" cy="1691640"/>
          </a:xfrm>
          <a:prstGeom prst="roundRect">
            <a:avLst>
              <a:gd name="adj" fmla="val 2703"/>
            </a:avLst>
          </a:prstGeom>
          <a:solidFill>
            <a:srgbClr val="17364C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36758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4069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cannot be broken. For a shared lab repo this is the single highest-value checkbox on GitHub.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92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rule at the one "CI passed" job, not at every matrix leg — then you never have to update the required-checks list when the matrix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5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"CD" hooks on later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325880"/>
          </a:xfrm>
          <a:prstGeom prst="roundRect">
            <a:avLst>
              <a:gd name="adj" fmla="val 3448"/>
            </a:avLst>
          </a:prstGeom>
          <a:solidFill>
            <a:srgbClr val="ED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container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Docker image of the workspace and push it to GHCR when you tag a release. Now everyone runs the same environment.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72968"/>
            <a:ext cx="10911535" cy="1325880"/>
          </a:xfrm>
          <a:prstGeom prst="roundRect">
            <a:avLst>
              <a:gd name="adj" fmla="val 3448"/>
            </a:avLst>
          </a:prstGeom>
          <a:solidFill>
            <a:srgbClr val="ED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3611880"/>
            <a:ext cx="420624" cy="42062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355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release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77647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.deb, a bag file, or the test report to a GitHub Release so results are citable in six months.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10911535" cy="1325880"/>
          </a:xfrm>
          <a:prstGeom prst="roundRect">
            <a:avLst>
              <a:gd name="adj" fmla="val 3448"/>
            </a:avLst>
          </a:prstGeom>
          <a:solidFill>
            <a:srgbClr val="ED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5093208"/>
            <a:ext cx="420624" cy="42062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runner in the lab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 on real hardware, for the integration tests that genuinely need a robot. Nightly, or on a label.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put "deploy to the robot" on push: main without a human in the loop.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BEFORE NEXT WEEK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ED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773936"/>
            <a:ext cx="402336" cy="402336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turtle_guard, or pick one of your own ROS 2 repos.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EDF2F6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2532888"/>
            <a:ext cx="402336" cy="402336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40487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02-ros2-build-test.yml into .github/workflows/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ED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3291840"/>
            <a:ext cx="402336" cy="402336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163824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--packages-select turtle_guard to your package name.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FBECED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D94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922776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Push. Watch it fail.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52560" y="392277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9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fail — usually a missing &lt;depend&gt;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81728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EDF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809744"/>
            <a:ext cx="402336" cy="402336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681728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that. The fix is real, and it was a real bug.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11535" cy="676656"/>
          </a:xfrm>
          <a:prstGeom prst="roundRect">
            <a:avLst>
              <a:gd name="adj" fmla="val 6757"/>
            </a:avLst>
          </a:prstGeom>
          <a:solidFill>
            <a:srgbClr val="EDF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" y="5568696"/>
            <a:ext cx="402336" cy="402336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440680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branch protection for main.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0080" y="62179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and pair with me if you get stuck on step 4. That step is the whole workshop.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losing a Monday morning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something a computer could have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E9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told you about on Friday afternoon.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4023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forty seconds.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4937760"/>
            <a:ext cx="6949440" cy="1092708"/>
          </a:xfrm>
          <a:prstGeom prst="roundRect">
            <a:avLst>
              <a:gd name="adj" fmla="val 6695"/>
            </a:avLst>
          </a:prstGeom>
          <a:solidFill>
            <a:srgbClr val="0E2233"/>
          </a:solidFill>
          <a:ln w="12700">
            <a:solidFill>
              <a:srgbClr val="2A4C66"/>
            </a:solidFill>
            <a:prstDash val="solid"/>
          </a:ln>
          <a:effectLst>
            <a:outerShdw sx="100000" sy="100000" kx="0" ky="0" algn="bl" rotWithShape="0" blurRad="127000" dist="38100" dir="5400000">
              <a:srgbClr val="0E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5175504"/>
            <a:ext cx="64373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3B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github.com/&lt;your-lab&gt;/ros2-ci-workshop</a:t>
            </a:r>
            <a:endParaRPr lang="en-US" sz="1500" dirty="0"/>
          </a:p>
          <a:p>
            <a:pPr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92AE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 · demo scripts · these slides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95360" y="5230368"/>
            <a:ext cx="2331720" cy="566928"/>
          </a:xfrm>
          <a:prstGeom prst="roundRect">
            <a:avLst>
              <a:gd name="adj" fmla="val 80645"/>
            </a:avLst>
          </a:prstGeom>
          <a:solidFill>
            <a:srgbClr val="1FA971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52303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for Robots — GitHub Actions + ROS 2</dc:title>
  <dc:subject>PptxGenJS Presentation</dc:subject>
  <dc:creator>Robotics Lab</dc:creator>
  <cp:lastModifiedBy>Robotics Lab</cp:lastModifiedBy>
  <cp:revision>1</cp:revision>
  <dcterms:created xsi:type="dcterms:W3CDTF">2026-08-23T11:10:21Z</dcterms:created>
  <dcterms:modified xsi:type="dcterms:W3CDTF">2026-08-23T11:10:21Z</dcterms:modified>
</cp:coreProperties>
</file>